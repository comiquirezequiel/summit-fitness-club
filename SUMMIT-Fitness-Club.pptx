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Fira Sans" panose="020B0604020202020204" charset="0"/>
      <p:regular r:id="rId20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3BB8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060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2" y="670560"/>
            <a:ext cx="3180599" cy="36136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179940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SUMMIT Fitness Club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3925119" y="245499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Plataforma web integral para la gestión moderna de un gimnasio de alto rendimiento.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3925119" y="3068092"/>
            <a:ext cx="226114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F94CA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014936" y="3115345"/>
            <a:ext cx="208151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IFES · PRÁCTICAS PROFESIONALIZANTES II</a:t>
            </a:r>
            <a:endParaRPr lang="en-US" sz="8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F4D29D6-8273-40AE-BC7F-F5B0DA04D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314" y="4453040"/>
            <a:ext cx="1152686" cy="628738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4AD8A0ED-6793-4B7D-BA1D-D7902ECBE345}"/>
              </a:ext>
            </a:extLst>
          </p:cNvPr>
          <p:cNvSpPr/>
          <p:nvPr/>
        </p:nvSpPr>
        <p:spPr>
          <a:xfrm>
            <a:off x="6882853" y="4847181"/>
            <a:ext cx="2261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Comiquir David – Olivera  Santiago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0792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El Desafío: Del Papel a la Eficiencia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006501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21482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Desorden de datos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454771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Información dispersa que dificulta la toma de decisiones.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2006501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21482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Riesgo legal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454771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Sin seguimiento preciso de la documentación de salud de los socios.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418731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5604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Experiencia limitada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86700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Interacciones lentas y poco atractivas para el usuario moderno.</a:t>
            </a:r>
            <a:endParaRPr lang="en-US" sz="11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5993731-D61C-4147-8A0F-22CFAB5C4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312" y="4733994"/>
            <a:ext cx="1227620" cy="335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04158"/>
            <a:ext cx="91440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80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La Propuesta: Una Plataforma Integral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46299"/>
            <a:ext cx="5177582" cy="3106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640607"/>
            <a:ext cx="23024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Teoría General de Sistemas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24339" y="2003822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Basada en </a:t>
            </a:r>
            <a:r>
              <a:rPr lang="en-US" sz="12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Ludwig von Bertalanffy</a:t>
            </a:r>
            <a:r>
              <a:rPr lang="en-US" sz="12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, el gimnasio es un </a:t>
            </a:r>
            <a:r>
              <a:rPr lang="en-US" sz="12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sistema abierto</a:t>
            </a:r>
            <a:r>
              <a:rPr lang="en-US" sz="12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 donde interactúan elementos internos (personal, infraestructura, finanzas) y externos (regulaciones, medios de pago).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24339" y="3492252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El sistema introduce </a:t>
            </a:r>
            <a:r>
              <a:rPr lang="en-US" sz="12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retroalimentación y control</a:t>
            </a:r>
            <a:r>
              <a:rPr lang="en-US" sz="12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 para mantener al gimnasio estable, eficiente y en regla.</a:t>
            </a:r>
            <a:endParaRPr lang="en-US" sz="12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D2E2D4F-E7CA-400B-8B22-C46E0635C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499" y="4791026"/>
            <a:ext cx="1158501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" y="249586"/>
            <a:ext cx="91439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Objetivos Específicos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57089"/>
            <a:ext cx="4004965" cy="1507034"/>
          </a:xfrm>
          <a:prstGeom prst="roundRect">
            <a:avLst>
              <a:gd name="adj" fmla="val 1411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5169" y="1376139"/>
            <a:ext cx="3966865" cy="425276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5" name="Text 3"/>
          <p:cNvSpPr/>
          <p:nvPr/>
        </p:nvSpPr>
        <p:spPr>
          <a:xfrm>
            <a:off x="2392263" y="14558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6927" y="1943174"/>
            <a:ext cx="21253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Control Legal Inflexible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Bloqueo automático de acceso ante certificado médico vencido.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42842" y="1357089"/>
            <a:ext cx="4005039" cy="1507034"/>
          </a:xfrm>
          <a:prstGeom prst="roundRect">
            <a:avLst>
              <a:gd name="adj" fmla="val 1411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1892" y="1376139"/>
            <a:ext cx="3966939" cy="425276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10" name="Text 8"/>
          <p:cNvSpPr/>
          <p:nvPr/>
        </p:nvSpPr>
        <p:spPr>
          <a:xfrm>
            <a:off x="6539061" y="14558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3651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Pagos Inteligentes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Integración con </a:t>
            </a:r>
            <a:r>
              <a:rPr lang="en-US" sz="14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Mercado Pago</a:t>
            </a: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 y gestión asistida de transferencias manuales.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6119" y="3005882"/>
            <a:ext cx="4004965" cy="1507034"/>
          </a:xfrm>
          <a:prstGeom prst="roundRect">
            <a:avLst>
              <a:gd name="adj" fmla="val 1411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5169" y="3024932"/>
            <a:ext cx="3966865" cy="425276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15" name="Text 13"/>
          <p:cNvSpPr/>
          <p:nvPr/>
        </p:nvSpPr>
        <p:spPr>
          <a:xfrm>
            <a:off x="2392263" y="310462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6927" y="3591967"/>
            <a:ext cx="25681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Entrenamiento Basado en Datos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927" y="38984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Rutinas digitales con alertas de patologías y seguimiento de evolución.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42842" y="3005882"/>
            <a:ext cx="4005039" cy="1507034"/>
          </a:xfrm>
          <a:prstGeom prst="roundRect">
            <a:avLst>
              <a:gd name="adj" fmla="val 1411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1892" y="3024932"/>
            <a:ext cx="3966939" cy="425276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20" name="Text 18"/>
          <p:cNvSpPr/>
          <p:nvPr/>
        </p:nvSpPr>
        <p:spPr>
          <a:xfrm>
            <a:off x="6539061" y="310462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3651" y="35919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Gestión de Presencia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3651" y="38984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Registro exacto de entradas/salidas de socios y staff mediante contraseñas.</a:t>
            </a:r>
            <a:endParaRPr lang="en-US" sz="14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C6A601B-77CE-4C9E-886E-E3A4B77D7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4" y="4778072"/>
            <a:ext cx="1097283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97584"/>
            <a:ext cx="91440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Límites y Alcances del Sistema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52476"/>
            <a:ext cx="4107135" cy="1894136"/>
          </a:xfrm>
          <a:prstGeom prst="roundRect">
            <a:avLst>
              <a:gd name="adj" fmla="val 1123"/>
            </a:avLst>
          </a:prstGeom>
          <a:solidFill>
            <a:srgbClr val="F94CAF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9423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ea typeface="Inconsolata Bold" pitchFamily="34" charset="-122"/>
                <a:cs typeface="Inconsolata Bold" pitchFamily="34" charset="-120"/>
              </a:rPr>
              <a:t>Fuera del alcance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5781" y="2457450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Fira Sans" pitchFamily="34" charset="-122"/>
                <a:cs typeface="Fira Sans" pitchFamily="34" charset="-120"/>
              </a:rPr>
              <a:t>Liquidación de sueldos o RRHH avanzado</a:t>
            </a:r>
            <a:endParaRPr lang="en-US" sz="14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Fira Sans" pitchFamily="34" charset="-122"/>
                <a:cs typeface="Fira Sans" pitchFamily="34" charset="-120"/>
              </a:rPr>
              <a:t>Gestión de proveedores o facturación fiscal (AFIP)</a:t>
            </a:r>
            <a:endParaRPr lang="en-US" sz="14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Fira Sans" pitchFamily="34" charset="-122"/>
                <a:cs typeface="Fira Sans" pitchFamily="34" charset="-120"/>
              </a:rPr>
              <a:t>Administración de múltiples franquicias (single-tenant)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49701" y="2094235"/>
            <a:ext cx="21253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Ciclo completo del socio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49701" y="245745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Desde el registro y validación médica, elección de plan ("libre", "3 veces", "2 veces"), pago digital, chat web, hasta la recepción de rutina en celular y control de acceso diario.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49701" y="341740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Tres roles (RBAC): </a:t>
            </a:r>
            <a:r>
              <a:rPr lang="en-US" sz="14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Administradores/Recepción, Profesores y Socios.</a:t>
            </a:r>
            <a:endParaRPr lang="en-US" sz="14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3CA85A5-1BFE-4E9C-936B-6CE295C45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528" y="4717112"/>
            <a:ext cx="1090427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0084"/>
            <a:ext cx="5669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Análisis del Caso: Gaps Críticos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36588"/>
            <a:ext cx="2622724" cy="1983656"/>
          </a:xfrm>
          <a:prstGeom prst="roundRect">
            <a:avLst>
              <a:gd name="adj" fmla="val 4610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1636588"/>
            <a:ext cx="76200" cy="1983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17973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Caos Administrativo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4077" y="2103909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Pagos manuales cotejados en Excel generan errores, demoran habilitaciones y no permiten proyectar ingresos futuros.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60601" y="1636588"/>
            <a:ext cx="2622724" cy="1983656"/>
          </a:xfrm>
          <a:prstGeom prst="roundRect">
            <a:avLst>
              <a:gd name="adj" fmla="val 4610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551" y="1636588"/>
            <a:ext cx="76200" cy="19836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1797397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Riesgo Legal (Punto Crítico)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78560" y="2325365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Según la </a:t>
            </a:r>
            <a:r>
              <a:rPr lang="en-US" sz="14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Ley 5397</a:t>
            </a: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, el gimnasio es responsable si un socio entrena con apto médico vencido (+365 días). El control actual es visual y humano.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25083" y="1636588"/>
            <a:ext cx="2622724" cy="1983656"/>
          </a:xfrm>
          <a:prstGeom prst="roundRect">
            <a:avLst>
              <a:gd name="adj" fmla="val 4610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33" y="1636588"/>
            <a:ext cx="76200" cy="19836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3042" y="1797397"/>
            <a:ext cx="19482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Ineficiencia Deportiva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243042" y="2103909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Rutinas en papel sin historial de progreso. Los profesores dependen de su memoria para recordar patologías del socio.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96119" y="377971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Relevamiento mediante </a:t>
            </a:r>
            <a:r>
              <a:rPr lang="en-US" sz="14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entrevistas semiestructuradas</a:t>
            </a: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, auditoría de documentación física y </a:t>
            </a:r>
            <a:r>
              <a:rPr lang="en-US" sz="14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observación in situ</a:t>
            </a: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 en horario pico (18:00–21:00 hs).</a:t>
            </a:r>
            <a:endParaRPr lang="en-US" sz="14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FD67204-11A4-4C85-BA97-137E84807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9" y="4729304"/>
            <a:ext cx="1170432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9926"/>
            <a:ext cx="9143999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450" b="1" dirty="0" err="1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Requerimientos</a:t>
            </a:r>
            <a:r>
              <a:rPr lang="en-US" sz="24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 Funcionales Críticos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41871" y="994023"/>
            <a:ext cx="8260259" cy="3149054"/>
          </a:xfrm>
          <a:prstGeom prst="roundRect">
            <a:avLst>
              <a:gd name="adj" fmla="val 60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2914" y="1070967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812875" y="1070967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Nombre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75559" y="1070967"/>
            <a:ext cx="469560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Descripción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72914" y="1411039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12875" y="1411039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Gestión de Usuarios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75559" y="1411039"/>
            <a:ext cx="469560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Registro con roles RBAC (Socios, Empleados, Profesores) con JWT y validación de DNI.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2914" y="1942058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12875" y="1942058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Certificado Médico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75559" y="1942058"/>
            <a:ext cx="469560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Carga obligatoria de PDF/Imagen. Bloqueo estricto si supera 365 días.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2914" y="2282130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12875" y="2282130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Bloqueo Automático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75559" y="2282130"/>
            <a:ext cx="469560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Cron Job diario a las 00:00 que suspende accesos por vencimiento médico (Ley 5397).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2914" y="2813149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12875" y="2813149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Mercado Pago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75559" y="2813149"/>
            <a:ext cx="469560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Integración API con Webhooks HMAC para suscripciones y cobros recurrentes.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2914" y="3153221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12875" y="3153221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Control de Acceso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75559" y="3153221"/>
            <a:ext cx="469560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Validación dual por contraseña/token. Log inmutable de asistencia en tiempo real.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2914" y="3684240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RF-09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12875" y="3684240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Diseño de Rutinas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75559" y="3684240"/>
            <a:ext cx="469560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Constructor visual con cruce preventivo entre ejercicios y restricciones médicas del socio.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1871" y="4269581"/>
            <a:ext cx="8260259" cy="499244"/>
          </a:xfrm>
          <a:prstGeom prst="roundRect">
            <a:avLst>
              <a:gd name="adj" fmla="val 3794"/>
            </a:avLst>
          </a:prstGeom>
          <a:solidFill>
            <a:srgbClr val="022349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7" y="4455021"/>
            <a:ext cx="157758" cy="12620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52041" y="4413572"/>
            <a:ext cx="772388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RNF clave: Cifrado AES-256 (Ley 25.326), TLS 1.3, uptime 99.9%, respuesta de acceso &lt;1.5 seg.</a:t>
            </a:r>
            <a:endParaRPr lang="en-US" sz="9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8E88829F-B98C-4A91-A6F0-F77739E1A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790" y="4774992"/>
            <a:ext cx="1000265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8044"/>
            <a:ext cx="9144000" cy="52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Flujo: Registro del Socio y Validación de Salud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413" y="2965044"/>
            <a:ext cx="5655171" cy="17666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03755" y="3865284"/>
            <a:ext cx="991293" cy="153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Captura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703756" y="4152987"/>
            <a:ext cx="991293" cy="29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DNI, correo y formato válido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87001" y="3865284"/>
            <a:ext cx="991293" cy="153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Habilitación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87002" y="4114861"/>
            <a:ext cx="991293" cy="29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Pago MP automático o transferencia aprobada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103550" y="3118219"/>
            <a:ext cx="991293" cy="153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Filtro de Salud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103550" y="3424581"/>
            <a:ext cx="991293" cy="49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Certificado obligatorio; bloque &gt;365 días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744414" y="4768528"/>
            <a:ext cx="5655171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Solo cuando el socio está </a:t>
            </a:r>
            <a:r>
              <a:rPr lang="en-US" sz="8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"Apto"</a:t>
            </a: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y </a:t>
            </a:r>
            <a:r>
              <a:rPr lang="en-US" sz="8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"Pagado"</a:t>
            </a: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el sistema habilita la contraseña para el control de acceso físico.</a:t>
            </a:r>
            <a:endParaRPr lang="en-US" sz="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4963642-F226-40EA-BDA3-B567DB45A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1" y="4715247"/>
            <a:ext cx="1097280" cy="3524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F7426CF-0288-4CE9-9A0B-0D3EDA9EF41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41" y="598893"/>
            <a:ext cx="8450317" cy="2361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904155E-6A30-4889-8A80-F5E3F6287F32}"/>
              </a:ext>
            </a:extLst>
          </p:cNvPr>
          <p:cNvSpPr txBox="1"/>
          <p:nvPr/>
        </p:nvSpPr>
        <p:spPr>
          <a:xfrm>
            <a:off x="0" y="60960"/>
            <a:ext cx="914400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Flujo: Rutinas Inteligentes </a:t>
            </a:r>
            <a:endParaRPr lang="es-AR" sz="275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D24464-9E01-46F1-BC2D-AC193DC81EE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28" y="682985"/>
            <a:ext cx="8368943" cy="264096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BADD896-3E54-417F-A6E2-8795873F4B08}"/>
              </a:ext>
            </a:extLst>
          </p:cNvPr>
          <p:cNvSpPr/>
          <p:nvPr/>
        </p:nvSpPr>
        <p:spPr>
          <a:xfrm>
            <a:off x="387528" y="3433912"/>
            <a:ext cx="8368943" cy="1505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profesor ve la </a:t>
            </a:r>
            <a:r>
              <a:rPr lang="es-AR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ficha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s-AR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médica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del socio. Si asigna un ejercicio contraindicado, el sistema dispara una </a:t>
            </a:r>
            <a:r>
              <a:rPr lang="en-US" sz="14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alerta de riesgo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El socio registra pesos y RPE reales para retroalimentar el próximo plan.</a:t>
            </a:r>
            <a:endParaRPr lang="en-US" sz="1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0747E11-C052-41DB-804C-B779FFAC6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419" y="4749281"/>
            <a:ext cx="1114581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8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5634"/>
            <a:ext cx="9102288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s-AR" sz="275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Flujo: Control de Acceso</a:t>
            </a:r>
            <a:endParaRPr lang="es-AR" sz="2750"/>
          </a:p>
        </p:txBody>
      </p:sp>
      <p:sp>
        <p:nvSpPr>
          <p:cNvPr id="8" name="Text 4"/>
          <p:cNvSpPr/>
          <p:nvPr/>
        </p:nvSpPr>
        <p:spPr>
          <a:xfrm>
            <a:off x="151121" y="3546764"/>
            <a:ext cx="8951167" cy="195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Validación simultánea: </a:t>
            </a:r>
            <a:r>
              <a:rPr lang="en-US" sz="14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barrera financiera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(cuota al día) y </a:t>
            </a:r>
            <a:r>
              <a:rPr lang="en-US" sz="14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barrera legal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(apto &lt;365 días). Si alguna falla → código 403. Si pasa → abre barrera y registra </a:t>
            </a:r>
            <a:r>
              <a:rPr lang="en-US" sz="14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Log Timestamp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inmutable.</a:t>
            </a:r>
            <a:endParaRPr lang="en-US" sz="14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BEEFAD3-88C0-4717-92E5-4E6C6C1CF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575" y="4791026"/>
            <a:ext cx="1171426" cy="35247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28393D4-2801-4E05-8CA0-B101F38C4FE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620761"/>
            <a:ext cx="8424672" cy="283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03414"/>
            <a:ext cx="9144000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Gestión de Ausencias del Personal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36" y="1822278"/>
            <a:ext cx="7726392" cy="279692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85088" y="3845738"/>
            <a:ext cx="7071360" cy="531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ea typeface="Inconsolata Bold" pitchFamily="34" charset="-122"/>
                <a:cs typeface="Inconsolata Bold" pitchFamily="34" charset="-120"/>
              </a:rPr>
              <a:t>Administrator</a:t>
            </a:r>
            <a:r>
              <a:rPr lang="en-US" sz="1450" b="1" dirty="0">
                <a:solidFill>
                  <a:srgbClr val="000000"/>
                </a:solidFill>
                <a:ea typeface="Inconsolata Bold" pitchFamily="34" charset="-122"/>
              </a:rPr>
              <a:t>: </a:t>
            </a: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Recibe la notificación, evalúa la ausencia y reasigna el turno para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garantizar la operatividad.</a:t>
            </a:r>
            <a:endParaRPr lang="en-US" sz="1450" b="1" dirty="0">
              <a:solidFill>
                <a:srgbClr val="000000"/>
              </a:solidFill>
              <a:ea typeface="Inconsolata Bold" pitchFamily="34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1085088" y="3003264"/>
            <a:ext cx="6547104" cy="43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450" b="1" dirty="0">
                <a:solidFill>
                  <a:srgbClr val="000000"/>
                </a:solidFill>
                <a:ea typeface="Inconsolata Bold" pitchFamily="34" charset="-122"/>
                <a:cs typeface="Inconsolata Bold" pitchFamily="34" charset="-120"/>
              </a:rPr>
              <a:t>Sistema: </a:t>
            </a: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Automatiza el registro actualizando la matriz y dispara una alerta</a:t>
            </a:r>
          </a:p>
          <a:p>
            <a:pPr>
              <a:lnSpc>
                <a:spcPts val="1800"/>
              </a:lnSpc>
            </a:pP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a la gerencia.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085088" y="2145322"/>
            <a:ext cx="5779008" cy="426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es-AR" sz="1450" b="1" dirty="0">
                <a:solidFill>
                  <a:srgbClr val="000000"/>
                </a:solidFill>
                <a:ea typeface="Inconsolata Bold" pitchFamily="34" charset="-122"/>
                <a:cs typeface="Inconsolata Bold" pitchFamily="34" charset="-120"/>
              </a:rPr>
              <a:t>Empleado</a:t>
            </a:r>
            <a:r>
              <a:rPr lang="en-US" sz="1450" b="1" dirty="0">
                <a:solidFill>
                  <a:srgbClr val="000000"/>
                </a:solidFill>
                <a:ea typeface="Inconsolata Bold" pitchFamily="34" charset="-122"/>
                <a:cs typeface="Inconsolata Bold" pitchFamily="34" charset="-120"/>
              </a:rPr>
              <a:t>: </a:t>
            </a: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Inicia</a:t>
            </a:r>
            <a:r>
              <a:rPr lang="es-MX" sz="1600" dirty="0">
                <a:solidFill>
                  <a:srgbClr val="DAD1E6"/>
                </a:solidFill>
              </a:rPr>
              <a:t> </a:t>
            </a: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el proceso ingresando al portal para cargar </a:t>
            </a:r>
          </a:p>
          <a:p>
            <a:pPr>
              <a:lnSpc>
                <a:spcPts val="1800"/>
              </a:lnSpc>
            </a:pP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el justificativo.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" y="4556131"/>
            <a:ext cx="8870596" cy="183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flujo garantiza que ninguna ausencia interrumpa el servicio del gimnasio, manteniendo la </a:t>
            </a:r>
            <a:r>
              <a:rPr lang="en-US" sz="9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trazabilidad documental</a:t>
            </a: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del personal.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4776429-7D7F-4EBE-9715-4DF637C45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337" y="4791026"/>
            <a:ext cx="1121664" cy="3524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31076E7-6512-4F04-84F5-692E787DE293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69" y="600257"/>
            <a:ext cx="8253486" cy="1196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16925B-72C2-4DA7-9674-DBD13FF5A91F}"/>
              </a:ext>
            </a:extLst>
          </p:cNvPr>
          <p:cNvSpPr/>
          <p:nvPr/>
        </p:nvSpPr>
        <p:spPr>
          <a:xfrm>
            <a:off x="0" y="106642"/>
            <a:ext cx="9144000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s-AR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Trabajo a Futuro</a:t>
            </a:r>
            <a:endParaRPr lang="es-AR" sz="2750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8EB0CA4-F55C-4011-B2C2-74B3B25D38B3}"/>
              </a:ext>
            </a:extLst>
          </p:cNvPr>
          <p:cNvSpPr/>
          <p:nvPr/>
        </p:nvSpPr>
        <p:spPr>
          <a:xfrm>
            <a:off x="146304" y="877824"/>
            <a:ext cx="2670048" cy="3304032"/>
          </a:xfrm>
          <a:prstGeom prst="roundRect">
            <a:avLst/>
          </a:prstGeom>
          <a:solidFill>
            <a:srgbClr val="CD3B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9574FC8-EAF4-45C5-BAEF-A3C370785E6D}"/>
              </a:ext>
            </a:extLst>
          </p:cNvPr>
          <p:cNvSpPr/>
          <p:nvPr/>
        </p:nvSpPr>
        <p:spPr>
          <a:xfrm>
            <a:off x="6327648" y="877824"/>
            <a:ext cx="2670048" cy="3304032"/>
          </a:xfrm>
          <a:prstGeom prst="roundRect">
            <a:avLst/>
          </a:prstGeom>
          <a:solidFill>
            <a:srgbClr val="CD3B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8D8BA1B-DD9A-4FED-A9C8-6AFDD21CC2F1}"/>
              </a:ext>
            </a:extLst>
          </p:cNvPr>
          <p:cNvSpPr/>
          <p:nvPr/>
        </p:nvSpPr>
        <p:spPr>
          <a:xfrm>
            <a:off x="3236976" y="877824"/>
            <a:ext cx="2670048" cy="3304032"/>
          </a:xfrm>
          <a:prstGeom prst="roundRect">
            <a:avLst/>
          </a:prstGeom>
          <a:solidFill>
            <a:srgbClr val="CD3B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81A186A-22F1-4223-B21D-F1B0DBBF2883}"/>
              </a:ext>
            </a:extLst>
          </p:cNvPr>
          <p:cNvSpPr txBox="1"/>
          <p:nvPr/>
        </p:nvSpPr>
        <p:spPr>
          <a:xfrm>
            <a:off x="146304" y="2103514"/>
            <a:ext cx="267004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0" dirty="0">
                <a:effectLst/>
              </a:rPr>
              <a:t>Business Intelligence</a:t>
            </a:r>
          </a:p>
          <a:p>
            <a:pPr algn="ctr"/>
            <a:r>
              <a:rPr lang="es-MX" sz="1600" b="0" i="0" dirty="0">
                <a:effectLst/>
              </a:rPr>
              <a:t>Tablero de control interactivo (Dashboard) con métricas históricas de pagos, asistencia y retención para decisiones gerenciales basadas en datos empíricos.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6020F0-EC54-4F56-95E7-9F0432830A7B}"/>
              </a:ext>
            </a:extLst>
          </p:cNvPr>
          <p:cNvSpPr txBox="1"/>
          <p:nvPr/>
        </p:nvSpPr>
        <p:spPr>
          <a:xfrm>
            <a:off x="3236976" y="2103514"/>
            <a:ext cx="267004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b="1" dirty="0"/>
              <a:t>IA Local (Ollama)</a:t>
            </a:r>
          </a:p>
          <a:p>
            <a:pPr algn="ctr"/>
            <a:r>
              <a:rPr lang="es-AR" sz="1600" dirty="0"/>
              <a:t>Auditoría clínica autónoma procesando certificados médicos mediante NLP local, garantizando privacidad total y bloqueando rutinas de riesgo.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72DE158-12D9-4683-8DE9-4F7FABF5ED85}"/>
              </a:ext>
            </a:extLst>
          </p:cNvPr>
          <p:cNvSpPr txBox="1"/>
          <p:nvPr/>
        </p:nvSpPr>
        <p:spPr>
          <a:xfrm>
            <a:off x="6327648" y="2103514"/>
            <a:ext cx="267004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/>
              <a:t>Interfaz Biomecánica</a:t>
            </a:r>
          </a:p>
          <a:p>
            <a:pPr algn="ctr"/>
            <a:r>
              <a:rPr lang="es-MX" sz="1600" dirty="0"/>
              <a:t>Modelo anatómico interactivo 3D acoplado a un catálogo multimedia inmersivo para la prescripción visual, segmentada y segura de ejercicios.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F3AD608-CCCF-4B22-9E05-7F145DEC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419" y="4717112"/>
            <a:ext cx="1114581" cy="381053"/>
          </a:xfrm>
          <a:prstGeom prst="rect">
            <a:avLst/>
          </a:prstGeom>
        </p:spPr>
      </p:pic>
      <p:grpSp>
        <p:nvGrpSpPr>
          <p:cNvPr id="13" name="Group 10">
            <a:extLst>
              <a:ext uri="{FF2B5EF4-FFF2-40B4-BE49-F238E27FC236}">
                <a16:creationId xmlns:a16="http://schemas.microsoft.com/office/drawing/2014/main" id="{3DDD4E35-E193-40C8-9ADA-D93646F5290D}"/>
              </a:ext>
            </a:extLst>
          </p:cNvPr>
          <p:cNvGrpSpPr/>
          <p:nvPr/>
        </p:nvGrpSpPr>
        <p:grpSpPr>
          <a:xfrm>
            <a:off x="3995953" y="961644"/>
            <a:ext cx="1152091" cy="1098194"/>
            <a:chOff x="0" y="0"/>
            <a:chExt cx="812800" cy="812800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CC0C3113-0FEE-4512-9D18-AEED9BA87A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7301" r="-37301"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7" name="Freeform 12">
            <a:extLst>
              <a:ext uri="{FF2B5EF4-FFF2-40B4-BE49-F238E27FC236}">
                <a16:creationId xmlns:a16="http://schemas.microsoft.com/office/drawing/2014/main" id="{95DEFBB3-F793-4BC7-BC66-F0F5A769F44D}"/>
              </a:ext>
            </a:extLst>
          </p:cNvPr>
          <p:cNvSpPr/>
          <p:nvPr/>
        </p:nvSpPr>
        <p:spPr>
          <a:xfrm>
            <a:off x="751492" y="837502"/>
            <a:ext cx="1459669" cy="1346477"/>
          </a:xfrm>
          <a:custGeom>
            <a:avLst/>
            <a:gdLst/>
            <a:ahLst/>
            <a:cxnLst/>
            <a:rect l="l" t="t" r="r" b="b"/>
            <a:pathLst>
              <a:path w="3508870" h="3508870">
                <a:moveTo>
                  <a:pt x="0" y="0"/>
                </a:moveTo>
                <a:lnTo>
                  <a:pt x="3508870" y="0"/>
                </a:lnTo>
                <a:lnTo>
                  <a:pt x="3508870" y="3508871"/>
                </a:lnTo>
                <a:lnTo>
                  <a:pt x="0" y="3508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62D2B6FE-3FB3-4524-805F-DCA0C3EED766}"/>
              </a:ext>
            </a:extLst>
          </p:cNvPr>
          <p:cNvGrpSpPr/>
          <p:nvPr/>
        </p:nvGrpSpPr>
        <p:grpSpPr>
          <a:xfrm>
            <a:off x="7082075" y="961644"/>
            <a:ext cx="1161191" cy="1178184"/>
            <a:chOff x="0" y="0"/>
            <a:chExt cx="812800" cy="812800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15B14FA8-E8F8-4C71-9221-4B0EEB986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4049497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18EE821-A795-4C06-8B1E-BB8AC716490F}"/>
              </a:ext>
            </a:extLst>
          </p:cNvPr>
          <p:cNvSpPr/>
          <p:nvPr/>
        </p:nvSpPr>
        <p:spPr>
          <a:xfrm>
            <a:off x="1101939" y="94608"/>
            <a:ext cx="16009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s-AR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Conclusión</a:t>
            </a:r>
            <a:endParaRPr lang="es-AR" sz="27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D76B9E0-6403-4D14-A18D-9414177F0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419" y="4735042"/>
            <a:ext cx="1114581" cy="381053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37053F63-3041-49BD-ABEB-1EC3843F05D5}"/>
              </a:ext>
            </a:extLst>
          </p:cNvPr>
          <p:cNvSpPr txBox="1"/>
          <p:nvPr/>
        </p:nvSpPr>
        <p:spPr>
          <a:xfrm>
            <a:off x="979765" y="595830"/>
            <a:ext cx="1949842" cy="3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s-AR" sz="1600" b="1" dirty="0">
                <a:solidFill>
                  <a:srgbClr val="DAD1E6"/>
                </a:solidFill>
                <a:ea typeface="Arimo Bold"/>
                <a:cs typeface="Arimo Bold"/>
                <a:sym typeface="Arimo Bold"/>
              </a:rPr>
              <a:t>Transformación Digital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CD0DE106-5069-4647-9F57-C0A6B379300A}"/>
              </a:ext>
            </a:extLst>
          </p:cNvPr>
          <p:cNvSpPr txBox="1"/>
          <p:nvPr/>
        </p:nvSpPr>
        <p:spPr>
          <a:xfrm>
            <a:off x="210171" y="988295"/>
            <a:ext cx="3388498" cy="802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AR" sz="1200" dirty="0">
                <a:solidFill>
                  <a:srgbClr val="DAD1E6"/>
                </a:solidFill>
                <a:ea typeface="Fira Sans"/>
                <a:cs typeface="Fira Sans"/>
                <a:sym typeface="Fira Sans"/>
              </a:rPr>
              <a:t>Evolución de un modelo tradicional y caótico, reemplazando completamente los registros manuales en papel por un entorno moderno y eficiente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F9CBC942-AA85-4FBE-8168-F1800B1823C7}"/>
              </a:ext>
            </a:extLst>
          </p:cNvPr>
          <p:cNvSpPr txBox="1"/>
          <p:nvPr/>
        </p:nvSpPr>
        <p:spPr>
          <a:xfrm>
            <a:off x="839153" y="1998723"/>
            <a:ext cx="2244585" cy="3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s-AR" sz="1600" b="1" dirty="0">
                <a:solidFill>
                  <a:srgbClr val="DAD1E6"/>
                </a:solidFill>
                <a:ea typeface="Arimo Bold"/>
                <a:cs typeface="Arimo Bold"/>
                <a:sym typeface="Arimo Bold"/>
              </a:rPr>
              <a:t>Seguridad Legal Inflexible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E6255830-5E4A-4330-9FB9-BC6B081E5D9E}"/>
              </a:ext>
            </a:extLst>
          </p:cNvPr>
          <p:cNvSpPr txBox="1"/>
          <p:nvPr/>
        </p:nvSpPr>
        <p:spPr>
          <a:xfrm>
            <a:off x="208142" y="2397020"/>
            <a:ext cx="3388498" cy="802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AR" sz="1200" dirty="0">
                <a:solidFill>
                  <a:srgbClr val="DAD1E6"/>
                </a:solidFill>
                <a:ea typeface="Fira Sans"/>
                <a:cs typeface="Fira Sans"/>
                <a:sym typeface="Fira Sans"/>
              </a:rPr>
              <a:t>Automatización del control de certificados médicos, eliminando el error humano y garantizando la protección legal del establecimiento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534865BC-D5A5-4E10-B0FA-4B90C5F9A79E}"/>
              </a:ext>
            </a:extLst>
          </p:cNvPr>
          <p:cNvSpPr txBox="1"/>
          <p:nvPr/>
        </p:nvSpPr>
        <p:spPr>
          <a:xfrm>
            <a:off x="650204" y="3407920"/>
            <a:ext cx="2504374" cy="381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s-AR" sz="1600" b="1" dirty="0">
                <a:solidFill>
                  <a:srgbClr val="DAD1E6"/>
                </a:solidFill>
                <a:ea typeface="Arimo Bold"/>
                <a:cs typeface="Arimo Bold"/>
                <a:sym typeface="Arimo Bold"/>
              </a:rPr>
              <a:t>Servicio Centrado en el Socio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F620638F-FE42-4157-97F7-8A39FD02FE8E}"/>
              </a:ext>
            </a:extLst>
          </p:cNvPr>
          <p:cNvSpPr txBox="1"/>
          <p:nvPr/>
        </p:nvSpPr>
        <p:spPr>
          <a:xfrm>
            <a:off x="208143" y="3797420"/>
            <a:ext cx="3388498" cy="1079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AR" sz="1200" dirty="0">
                <a:solidFill>
                  <a:srgbClr val="DAD1E6"/>
                </a:solidFill>
                <a:ea typeface="Fira Sans"/>
                <a:cs typeface="Fira Sans"/>
                <a:sym typeface="Fira Sans"/>
              </a:rPr>
              <a:t>Mejora de la calidad humana al proveer datos médicos vitales a los profesores para armar rutinas seguras, brindando una experiencia fluida e interactiva vía celular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D84CF1F4-1404-447A-8E12-6D3F81BD8F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561"/>
          <a:stretch/>
        </p:blipFill>
        <p:spPr>
          <a:xfrm>
            <a:off x="4216875" y="144507"/>
            <a:ext cx="4787903" cy="4815221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802157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891</Words>
  <Application>Microsoft Office PowerPoint</Application>
  <PresentationFormat>Presentación en pantalla (16:9)</PresentationFormat>
  <Paragraphs>111</Paragraphs>
  <Slides>13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Calibri</vt:lpstr>
      <vt:lpstr>Inconsolata Bold</vt:lpstr>
      <vt:lpstr>Arial</vt:lpstr>
      <vt:lpstr>Fira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ezejoel</dc:creator>
  <cp:lastModifiedBy>Ezequiel Comiquir</cp:lastModifiedBy>
  <cp:revision>6</cp:revision>
  <dcterms:created xsi:type="dcterms:W3CDTF">2026-05-10T15:50:22Z</dcterms:created>
  <dcterms:modified xsi:type="dcterms:W3CDTF">2026-05-11T22:38:35Z</dcterms:modified>
</cp:coreProperties>
</file>